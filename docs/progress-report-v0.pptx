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[~40 sec]
TALKING POINTS:
- Frame this as a CONTROL problem, not an RL talk.
- Position control commands a joint angle; a low-level PD loop turns the error into torque. Stiff and accurate when the world is known.
- It fails on exactly what this course cares about: compliance, disturbance rejection, unknown terrain, sim-to-real gap.
- Torque control commands force directly, so the robot can yield and adapt instead of resisting.
TRANSITION: 'The question is how to get adaptive locomotion in unknown environments — SATA is one bio-inspired answer.'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[~60 sec]
TALKING POINTS:
- One message: SATA injects bio-inspired adaptation INTO a torque policy. Don't read equations.
- Flow: observation -&gt; RL torque policy -&gt; biomechanical layer -&gt; torque -&gt; robot; fatigue state feeds back.
- Biomechanical model: activation smooths the command, a muscle model prevents abrupt torque, fatigue discourages overusing joints.
- Growth mechanism: torque limit, reward, and control frequency unlock progressively — like an animal maturing.
- Net effect: safe torques plus generalization, deployed zero-shot.
TRANSITION: 'That's what SATA is — here is how WE plan to study it.'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[~50 sec]
TALKING POINTS:
- Feasibility is the point of this slide: executable, not just a paper review.
- Phase 1: stand up the official SATA pipeline in Isaac Gym — proves we can run it.
- Phase 2: controlled ablations — toggle fatigue, retune torque limit / growth, change terrain; observe behavior shifts.
- Phase 3: map each mechanism to an adaptive-control reading (analogy, not equivalence).
- Phase 4 residual term only if time allows — not promised.
TRANSITION: 'So what do we expect to deliver?'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[~30 sec]
TALKING POINTS:
- Close the loop, no overclaiming: the contribution is understanding, not a new algorithm.
- Three concrete outputs: reproduction, behavior analysis, control-theoretic interpretation.
- The four research questions map onto the four slides.
CLOSING LINE (read the bottom band): bio-inspired torque control -&gt; adaptive behavior -&gt; interpreted through adaptive control.
TRANSITION: 'Happy to take questions.'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302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46888"/>
            <a:ext cx="475488" cy="475488"/>
          </a:xfrm>
          <a:prstGeom prst="ellipse">
            <a:avLst/>
          </a:prstGeom>
          <a:solidFill>
            <a:srgbClr val="E0922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46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30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15568" y="146304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Locomotion Is a Control Problem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4983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325880"/>
            <a:ext cx="91440" cy="1874520"/>
          </a:xfrm>
          <a:prstGeom prst="rect">
            <a:avLst/>
          </a:prstGeom>
          <a:solidFill>
            <a:srgbClr val="B0573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63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1810512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Position-based locomotion is accurate under known conditions but rigid — it struggles with compliance, disturbance handling, unknown terrain, and the sim-to-real gap.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3383280"/>
            <a:ext cx="4983480" cy="713232"/>
          </a:xfrm>
          <a:prstGeom prst="rect">
            <a:avLst/>
          </a:prstGeom>
          <a:solidFill>
            <a:srgbClr val="DCEDEA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" y="3383280"/>
            <a:ext cx="91440" cy="71323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383280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Torque-based control enables compliant, adaptive interaction.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806440" y="1325880"/>
            <a:ext cx="2697480" cy="457200"/>
          </a:xfrm>
          <a:prstGeom prst="rect">
            <a:avLst/>
          </a:prstGeom>
          <a:solidFill>
            <a:srgbClr val="B0573F"/>
          </a:solidFill>
          <a:ln/>
        </p:spPr>
      </p:sp>
      <p:sp>
        <p:nvSpPr>
          <p:cNvPr id="14" name="Text 12"/>
          <p:cNvSpPr/>
          <p:nvPr/>
        </p:nvSpPr>
        <p:spPr>
          <a:xfrm>
            <a:off x="5806440" y="13258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CONTROL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006840" y="1325880"/>
            <a:ext cx="2697480" cy="4572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6" name="Text 14"/>
          <p:cNvSpPr/>
          <p:nvPr/>
        </p:nvSpPr>
        <p:spPr>
          <a:xfrm>
            <a:off x="9006840" y="13258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 CONTROL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806440" y="1965960"/>
            <a:ext cx="2697480" cy="548640"/>
          </a:xfrm>
          <a:prstGeom prst="rect">
            <a:avLst/>
          </a:prstGeom>
          <a:solidFill>
            <a:srgbClr val="F1E2DD"/>
          </a:solidFill>
          <a:ln w="12700">
            <a:solidFill>
              <a:srgbClr val="B0573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06440" y="196596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position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006840" y="1965960"/>
            <a:ext cx="2697480" cy="548640"/>
          </a:xfrm>
          <a:prstGeom prst="rect">
            <a:avLst/>
          </a:prstGeom>
          <a:solidFill>
            <a:srgbClr val="DCEDEA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06840" y="196596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force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72300" y="252374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573F"/>
                </a:solidFill>
              </a:rPr>
              <a:t>▼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172700" y="252374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E7C7B"/>
                </a:solidFill>
              </a:rPr>
              <a:t>▼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806440" y="2834640"/>
            <a:ext cx="2697480" cy="548640"/>
          </a:xfrm>
          <a:prstGeom prst="rect">
            <a:avLst/>
          </a:prstGeom>
          <a:solidFill>
            <a:srgbClr val="F1E2DD"/>
          </a:solidFill>
          <a:ln w="12700">
            <a:solidFill>
              <a:srgbClr val="B0573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06440" y="283464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 behavior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006840" y="2834640"/>
            <a:ext cx="2697480" cy="548640"/>
          </a:xfrm>
          <a:prstGeom prst="rect">
            <a:avLst/>
          </a:prstGeom>
          <a:solidFill>
            <a:srgbClr val="DCEDEA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06840" y="283464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 interaction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72300" y="339242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573F"/>
                </a:solidFill>
              </a:rPr>
              <a:t>▼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172700" y="339242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E7C7B"/>
                </a:solidFill>
              </a:rPr>
              <a:t>▼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06440" y="3703320"/>
            <a:ext cx="2697480" cy="548640"/>
          </a:xfrm>
          <a:prstGeom prst="rect">
            <a:avLst/>
          </a:prstGeom>
          <a:solidFill>
            <a:srgbClr val="F1E2DD"/>
          </a:solidFill>
          <a:ln w="12700">
            <a:solidFill>
              <a:srgbClr val="B0573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06440" y="370332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adaptation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006840" y="3703320"/>
            <a:ext cx="2697480" cy="548640"/>
          </a:xfrm>
          <a:prstGeom prst="rect">
            <a:avLst/>
          </a:prstGeom>
          <a:solidFill>
            <a:srgbClr val="DCEDEA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006840" y="370332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response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02920" y="5029200"/>
            <a:ext cx="11183112" cy="914400"/>
          </a:xfrm>
          <a:prstGeom prst="rect">
            <a:avLst/>
          </a:prstGeom>
          <a:solidFill>
            <a:srgbClr val="12302D"/>
          </a:solidFill>
          <a:ln/>
        </p:spPr>
      </p:sp>
      <p:sp>
        <p:nvSpPr>
          <p:cNvPr id="34" name="Text 32"/>
          <p:cNvSpPr/>
          <p:nvPr/>
        </p:nvSpPr>
        <p:spPr>
          <a:xfrm>
            <a:off x="777240" y="51389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77240" y="53949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can robots achieve safer and more adaptive locomotion in unknown environments?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02920" y="6455664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Refs  </a:t>
            </a:r>
            <a:pPr indent="0" marL="0">
              <a:buNone/>
            </a:pPr>
            <a:r>
              <a:rPr lang="en-US" sz="1000" i="1" dirty="0">
                <a:solidFill>
                  <a:srgbClr val="7C8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SATA · Chen et al. (torque control) · Lee et al. (terrain) · Miki et al. (perceptive loco.)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302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46888"/>
            <a:ext cx="475488" cy="475488"/>
          </a:xfrm>
          <a:prstGeom prst="ellipse">
            <a:avLst/>
          </a:prstGeom>
          <a:solidFill>
            <a:srgbClr val="E0922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46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30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15568" y="146304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SATA: Bio-inspired Adaptation in Torque Control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C8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RL torque policy wrapped by a biomechanical layer and a growth curriculum.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14600" y="1600200"/>
            <a:ext cx="3246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14600" y="16002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954780" y="215798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A87"/>
                </a:solidFill>
              </a:rPr>
              <a:t>▼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14600" y="2331720"/>
            <a:ext cx="3246120" cy="548640"/>
          </a:xfrm>
          <a:prstGeom prst="rect">
            <a:avLst/>
          </a:prstGeom>
          <a:solidFill>
            <a:srgbClr val="DCEDEA"/>
          </a:solidFill>
          <a:ln w="19050">
            <a:solidFill>
              <a:srgbClr val="0E7C7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14600" y="23317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 Policy (RL)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954780" y="28895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A87"/>
                </a:solidFill>
              </a:rPr>
              <a:t>▼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3063240"/>
            <a:ext cx="3246120" cy="548640"/>
          </a:xfrm>
          <a:prstGeom prst="rect">
            <a:avLst/>
          </a:prstGeom>
          <a:solidFill>
            <a:srgbClr val="DCEDEA"/>
          </a:solidFill>
          <a:ln w="19050">
            <a:solidFill>
              <a:srgbClr val="0E7C7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14600" y="306324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Biomechanical Layer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54780" y="362102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A87"/>
                </a:solidFill>
              </a:rPr>
              <a:t>▼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514600" y="3794760"/>
            <a:ext cx="3246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514600" y="379476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 Output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954780" y="435254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A87"/>
                </a:solidFill>
              </a:rPr>
              <a:t>▼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14600" y="4526280"/>
            <a:ext cx="3246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514600" y="45262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194560" y="2606040"/>
            <a:ext cx="0" cy="2194560"/>
          </a:xfrm>
          <a:prstGeom prst="line">
            <a:avLst/>
          </a:prstGeom>
          <a:noFill/>
          <a:ln w="31750">
            <a:solidFill>
              <a:srgbClr val="E0922B"/>
            </a:solidFill>
            <a:prstDash val="solid"/>
            <a:headEnd type="triangle"/>
          </a:ln>
        </p:spPr>
      </p:sp>
      <p:sp>
        <p:nvSpPr>
          <p:cNvPr id="22" name="Text 20"/>
          <p:cNvSpPr/>
          <p:nvPr/>
        </p:nvSpPr>
        <p:spPr>
          <a:xfrm>
            <a:off x="502920" y="32918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A5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</a:t>
            </a:r>
            <a:endParaRPr lang="en-US" sz="1200" dirty="0"/>
          </a:p>
          <a:p>
            <a:pPr algn="r" indent="0" marL="0">
              <a:buNone/>
            </a:pPr>
            <a:r>
              <a:rPr lang="en-US" sz="1200" b="1" dirty="0">
                <a:solidFill>
                  <a:srgbClr val="9A5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46520" y="1554480"/>
            <a:ext cx="5257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46520" y="1554480"/>
            <a:ext cx="91440" cy="13716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5" name="Shape 23"/>
          <p:cNvSpPr/>
          <p:nvPr/>
        </p:nvSpPr>
        <p:spPr>
          <a:xfrm>
            <a:off x="6702552" y="1783080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6" name="Text 24"/>
          <p:cNvSpPr/>
          <p:nvPr/>
        </p:nvSpPr>
        <p:spPr>
          <a:xfrm>
            <a:off x="6702552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360920" y="175564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Biomechanical Model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360920" y="219456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 ·  muscle  ·  fatigue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46520" y="3154680"/>
            <a:ext cx="5257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46520" y="3154680"/>
            <a:ext cx="91440" cy="1371600"/>
          </a:xfrm>
          <a:prstGeom prst="rect">
            <a:avLst/>
          </a:prstGeom>
          <a:solidFill>
            <a:srgbClr val="E0922B"/>
          </a:solidFill>
          <a:ln/>
        </p:spPr>
      </p:sp>
      <p:sp>
        <p:nvSpPr>
          <p:cNvPr id="31" name="Shape 29"/>
          <p:cNvSpPr/>
          <p:nvPr/>
        </p:nvSpPr>
        <p:spPr>
          <a:xfrm>
            <a:off x="6702552" y="3383280"/>
            <a:ext cx="502920" cy="502920"/>
          </a:xfrm>
          <a:prstGeom prst="ellipse">
            <a:avLst/>
          </a:prstGeom>
          <a:solidFill>
            <a:srgbClr val="E0922B"/>
          </a:solidFill>
          <a:ln/>
        </p:spPr>
      </p:sp>
      <p:sp>
        <p:nvSpPr>
          <p:cNvPr id="32" name="Text 30"/>
          <p:cNvSpPr/>
          <p:nvPr/>
        </p:nvSpPr>
        <p:spPr>
          <a:xfrm>
            <a:off x="6702552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360920" y="335584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A5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 Mechanism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360920" y="379476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 limit  ·  reward  ·  frequency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446520" y="4754880"/>
            <a:ext cx="5257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7C8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smooth, safe torques that progressively unlock capability — deployed zero-shot (sim-to-real).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02920" y="6455664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Refs  </a:t>
            </a:r>
            <a:pPr indent="0" marL="0">
              <a:buNone/>
            </a:pPr>
            <a:r>
              <a:rPr lang="en-US" sz="1000" i="1" dirty="0">
                <a:solidFill>
                  <a:srgbClr val="7C8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SATA · Hill (muscle dynamics) · Liu et al. (fatigue) · Bellegarda &amp; Ijspeert (CPG-RL)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302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46888"/>
            <a:ext cx="475488" cy="475488"/>
          </a:xfrm>
          <a:prstGeom prst="ellipse">
            <a:avLst/>
          </a:prstGeom>
          <a:solidFill>
            <a:srgbClr val="E0922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46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30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15568" y="146304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Plan: Understand → Reproduce → Analyze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C8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feasible 3-phase study — we interpret SATA, we do not redesign the RL.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2615184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554480"/>
            <a:ext cx="2615184" cy="77724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170992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34440" y="1673352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234440" y="192024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4088" y="2487168"/>
            <a:ext cx="22128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Isaac Gym on a CUDA server (container / venv) and run the official SATA training.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04088" y="3776472"/>
            <a:ext cx="2212848" cy="0"/>
          </a:xfrm>
          <a:prstGeom prst="line">
            <a:avLst/>
          </a:prstGeom>
          <a:noFill/>
          <a:ln w="12700">
            <a:solidFill>
              <a:srgbClr val="E5DF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3867912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</a:t>
            </a:r>
            <a:pPr indent="0" marL="0">
              <a:buNone/>
            </a:pPr>
            <a:r>
              <a:rPr lang="en-US" sz="115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running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099816" y="173736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8A87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392424" y="1554480"/>
            <a:ext cx="2615184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392424" y="1554480"/>
            <a:ext cx="2615184" cy="77724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9" name="Shape 17"/>
          <p:cNvSpPr/>
          <p:nvPr/>
        </p:nvSpPr>
        <p:spPr>
          <a:xfrm>
            <a:off x="3557016" y="170992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3557016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123944" y="1673352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23944" y="192024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593592" y="2487168"/>
            <a:ext cx="22128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fatigue · change torque limit · modify growth schedule · vary terrain.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593592" y="3776472"/>
            <a:ext cx="2212848" cy="0"/>
          </a:xfrm>
          <a:prstGeom prst="line">
            <a:avLst/>
          </a:prstGeom>
          <a:noFill/>
          <a:ln w="12700">
            <a:solidFill>
              <a:srgbClr val="E5DF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93592" y="3867912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</a:t>
            </a:r>
            <a:pPr indent="0" marL="0">
              <a:buNone/>
            </a:pPr>
            <a:r>
              <a:rPr lang="en-US" sz="115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data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989320" y="173736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8A87"/>
                </a:solidFill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281928" y="1554480"/>
            <a:ext cx="2615184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81928" y="1554480"/>
            <a:ext cx="2615184" cy="77724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9" name="Shape 27"/>
          <p:cNvSpPr/>
          <p:nvPr/>
        </p:nvSpPr>
        <p:spPr>
          <a:xfrm>
            <a:off x="6446520" y="170992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6446520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013448" y="1673352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013448" y="192024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Interpretation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83096" y="2487168"/>
            <a:ext cx="22128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→ gain scheduling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 → feedback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 limit → adaptive constraint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483096" y="3776472"/>
            <a:ext cx="2212848" cy="0"/>
          </a:xfrm>
          <a:prstGeom prst="line">
            <a:avLst/>
          </a:prstGeom>
          <a:noFill/>
          <a:ln w="12700">
            <a:solidFill>
              <a:srgbClr val="E5DF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83096" y="3867912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</a:t>
            </a:r>
            <a:pPr indent="0" marL="0">
              <a:buNone/>
            </a:pPr>
            <a:r>
              <a:rPr lang="en-US" sz="115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discussion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878824" y="173736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8A87"/>
                </a:solidFill>
              </a:rPr>
              <a:t>→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9171432" y="1554480"/>
            <a:ext cx="2615184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9171432" y="1554480"/>
            <a:ext cx="2615184" cy="777240"/>
          </a:xfrm>
          <a:prstGeom prst="rect">
            <a:avLst/>
          </a:prstGeom>
          <a:solidFill>
            <a:srgbClr val="E0922B"/>
          </a:solidFill>
          <a:ln/>
        </p:spPr>
      </p:sp>
      <p:sp>
        <p:nvSpPr>
          <p:cNvPr id="39" name="Shape 37"/>
          <p:cNvSpPr/>
          <p:nvPr/>
        </p:nvSpPr>
        <p:spPr>
          <a:xfrm>
            <a:off x="9336024" y="170992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9336024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92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9902952" y="1673352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OPTIONAL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9902952" y="192024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Compensation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372600" y="2487168"/>
            <a:ext cx="22128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τ_total = τ_SATA + τ_comp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Pursue only if feasible.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9372600" y="3776472"/>
            <a:ext cx="2212848" cy="0"/>
          </a:xfrm>
          <a:prstGeom prst="line">
            <a:avLst/>
          </a:prstGeom>
          <a:noFill/>
          <a:ln w="12700">
            <a:solidFill>
              <a:srgbClr val="E5DFD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372600" y="3867912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9A5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</a:t>
            </a:r>
            <a:pPr indent="0" marL="0">
              <a:buNone/>
            </a:pPr>
            <a:r>
              <a:rPr lang="en-US" sz="115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in boundary cases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502920" y="5074920"/>
            <a:ext cx="11183112" cy="868680"/>
          </a:xfrm>
          <a:prstGeom prst="rect">
            <a:avLst/>
          </a:prstGeom>
          <a:solidFill>
            <a:srgbClr val="12302D"/>
          </a:solidFill>
          <a:ln/>
        </p:spPr>
      </p:sp>
      <p:sp>
        <p:nvSpPr>
          <p:cNvPr id="47" name="Text 45"/>
          <p:cNvSpPr/>
          <p:nvPr/>
        </p:nvSpPr>
        <p:spPr>
          <a:xfrm>
            <a:off x="777240" y="5175504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77240" y="5431536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understand and analyze adaptive behavior — we do not redesign the RL algorithm.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02920" y="6455664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Refs  </a:t>
            </a:r>
            <a:pPr indent="0" marL="0">
              <a:buNone/>
            </a:pPr>
            <a:r>
              <a:rPr lang="en-US" sz="1000" i="1" dirty="0">
                <a:solidFill>
                  <a:srgbClr val="7C8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SATA · RL2AC · DecAP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302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46888"/>
            <a:ext cx="475488" cy="475488"/>
          </a:xfrm>
          <a:prstGeom prst="ellipse">
            <a:avLst/>
          </a:prstGeom>
          <a:solidFill>
            <a:srgbClr val="E0922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46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30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15568" y="146304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Contribution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1183112" cy="731520"/>
          </a:xfrm>
          <a:prstGeom prst="rect">
            <a:avLst/>
          </a:prstGeom>
          <a:solidFill>
            <a:srgbClr val="DCEDEA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280160"/>
            <a:ext cx="91440" cy="7315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2801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study adaptive behavior — not propose a new RL algorithm.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23317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12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411480" cy="41148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834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" y="28346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reproduction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611880"/>
            <a:ext cx="411480" cy="41148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611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97280" y="36118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analysis (ablation)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389120"/>
            <a:ext cx="411480" cy="41148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389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97280" y="43891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Adaptive-control interpretation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09360" y="23317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12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309360" y="2834640"/>
            <a:ext cx="261518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09360" y="2834640"/>
            <a:ext cx="91440" cy="11887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2" name="Text 20"/>
          <p:cNvSpPr/>
          <p:nvPr/>
        </p:nvSpPr>
        <p:spPr>
          <a:xfrm>
            <a:off x="6510528" y="2971800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RQ1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10528" y="3291840"/>
            <a:ext cx="2249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torque control?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107424" y="2834640"/>
            <a:ext cx="261518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107424" y="2834640"/>
            <a:ext cx="91440" cy="11887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6" name="Text 24"/>
          <p:cNvSpPr/>
          <p:nvPr/>
        </p:nvSpPr>
        <p:spPr>
          <a:xfrm>
            <a:off x="9308592" y="2971800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308592" y="3291840"/>
            <a:ext cx="2249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creates adaptation?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09360" y="4206240"/>
            <a:ext cx="261518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09360" y="4206240"/>
            <a:ext cx="91440" cy="11887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0" name="Text 28"/>
          <p:cNvSpPr/>
          <p:nvPr/>
        </p:nvSpPr>
        <p:spPr>
          <a:xfrm>
            <a:off x="6510528" y="4343400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RQ3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510528" y="4663440"/>
            <a:ext cx="2249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it relate to adaptive control?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9107424" y="4206240"/>
            <a:ext cx="261518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107424" y="4206240"/>
            <a:ext cx="91440" cy="1188720"/>
          </a:xfrm>
          <a:prstGeom prst="rect">
            <a:avLst/>
          </a:prstGeom>
          <a:solidFill>
            <a:srgbClr val="E0922B"/>
          </a:solidFill>
          <a:ln/>
        </p:spPr>
      </p:sp>
      <p:sp>
        <p:nvSpPr>
          <p:cNvPr id="34" name="Text 32"/>
          <p:cNvSpPr/>
          <p:nvPr/>
        </p:nvSpPr>
        <p:spPr>
          <a:xfrm>
            <a:off x="9308592" y="4343400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5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RQ4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308592" y="4663440"/>
            <a:ext cx="2249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lightweight compensation help?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02920" y="5623560"/>
            <a:ext cx="11183112" cy="914400"/>
          </a:xfrm>
          <a:prstGeom prst="rect">
            <a:avLst/>
          </a:prstGeom>
          <a:solidFill>
            <a:srgbClr val="12302D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" y="5724144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LINE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77240" y="596188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investigates how bio-inspired torque control creates adaptive locomotion behaviors, and interprets these mechanisms through an adaptive control perspective.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Bio-inspired Adaptive Locomotion via Torque-based Learning</dc:title>
  <dc:subject>PptxGenJS Presentation</dc:subject>
  <dc:creator>SATA Progress Report</dc:creator>
  <cp:lastModifiedBy>SATA Progress Report</cp:lastModifiedBy>
  <cp:revision>1</cp:revision>
  <dcterms:created xsi:type="dcterms:W3CDTF">2026-05-24T06:44:57Z</dcterms:created>
  <dcterms:modified xsi:type="dcterms:W3CDTF">2026-05-24T06:44:57Z</dcterms:modified>
</cp:coreProperties>
</file>