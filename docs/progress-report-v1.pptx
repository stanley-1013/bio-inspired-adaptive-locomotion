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[~10 sec]
Open: title, course, your name — one breath, then move on.
CORE (set the frame early): We are NOT proposing a new controller. We reproduce SATA, understand its adaptive behavior, and discuss it from a control perspective.
TRANSITION: 'Let me start with why this is a control problem.'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[~40 sec]
CORE MESSAGE (repeat across the talk): We are NOT proposing a new controller. We aim to reproduce SATA, understand its adaptive behavior, and discuss it from a control perspective.
TALKING POINTS:
- Frame this as a CONTROL problem, not an RL talk.
- Position control commands a joint angle; a low-level PD loop turns the error into torque. Stiff and accurate when the world is known.
- It fails on exactly what this course cares about: compliance, disturbance rejection, unknown terrain, sim-to-real gap.
- Torque control commands force directly, so the robot can yield and adapt instead of resisting.
TRANSITION: 'The question is how to get adaptive locomotion in unknown environments — SATA is one bio-inspired answer.'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
TALKING POINTS:
- One message: SATA injects bio-inspired adaptation INTO a torque policy. Don't read equations.
- Flow: observation -&gt; RL torque policy -&gt; biomechanical layer -&gt; torque -&gt; robot; fatigue state feeds back.
- Biomechanical model: activation smooths the command, a muscle model prevents abrupt torque, fatigue discourages overusing joints.
- Growth mechanism: torque limit, reward, and control frequency unlock progressively — like an animal maturing.
- Net effect: smoother, more robust torques plus generalization, demonstrated zero-shot.
TRANSITION: 'That's what SATA is — here is how WE plan to study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
TALKING POINTS:
- Feasibility is the point of this slide: executable, not just a paper review.
- Phase 1: stand up the official SATA pipeline in Isaac Gym — proves we can run it.
- Phase 2: controlled ablations — toggle fatigue, retune torque limit / growth, change terrain; observe behavior shifts.
- Phase 3: map each mechanism to an adaptive-control reading (analogy, not equivalence).
- Phase 4 residual term only if time allows — not promised.
TRANSITION: 'So what do we expect to deliver?'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
TALKING POINTS:
- Close the loop, no overclaiming: the contribution is understanding, not a new algorithm.
- Three concrete outputs: reproduction, behavior analysis, control-theoretic interpretation.
- The four research questions map onto the four slides.
CLOSING LINE (read the bottom band): bio-inspired torque control -&gt; adaptive behavior -&gt; interpreted through adaptive &amp; robust control.
REINFORCE THE CORE: we are not proposing a new controller — reproduce SATA, understand its adaptive behavior, discuss it from a control perspective.
TRANSITION: 'Happy to take questions.'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0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32520" y="155448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C403C"/>
          </a:solidFill>
          <a:ln w="12700">
            <a:solidFill>
              <a:srgbClr val="2A534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732520" y="155448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898380" y="230428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534F"/>
                </a:solidFill>
              </a:rPr>
              <a:t>▼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732520" y="274320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C403C"/>
          </a:solidFill>
          <a:ln w="12700">
            <a:solidFill>
              <a:srgbClr val="2A53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32520" y="274320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898380" y="3493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A534F"/>
                </a:solidFill>
              </a:rPr>
              <a:t>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732520" y="3931920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1C403C"/>
          </a:solidFill>
          <a:ln w="12700">
            <a:solidFill>
              <a:srgbClr val="2A534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0" y="39319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C6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749808"/>
            <a:ext cx="566928" cy="56692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7498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τ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822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REPORT   ·   ADAPTIVE CONTROL SYSTEMS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40080" y="2240280"/>
            <a:ext cx="7772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Bio-inspired Adaptive Locomotion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via Torque-based Learning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58368" y="39776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BFE0D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Case Study of SATA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76656" y="4754880"/>
            <a:ext cx="1828800" cy="45720"/>
          </a:xfrm>
          <a:prstGeom prst="rect">
            <a:avLst/>
          </a:prstGeom>
          <a:solidFill>
            <a:srgbClr val="E0922B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9834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Chuan-Han Li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40080" y="54132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05 / 25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Locomotion Is a Control Problem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498348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325880"/>
            <a:ext cx="91440" cy="1874520"/>
          </a:xfrm>
          <a:prstGeom prst="rect">
            <a:avLst/>
          </a:prstGeom>
          <a:solidFill>
            <a:srgbClr val="B0573F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463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" kern="0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181051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Position-based locomotion is accurate under known conditions but rigid — it struggles with compliance, disturbance handling, unknown terrain, and the sim-to-real gap.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346704"/>
            <a:ext cx="4983480" cy="868680"/>
          </a:xfrm>
          <a:prstGeom prst="rect">
            <a:avLst/>
          </a:prstGeom>
          <a:solidFill>
            <a:srgbClr val="DCEDEA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3346704"/>
            <a:ext cx="91440" cy="86868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346704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Torque-based control may improve compliance and provide conditions for more adaptive locomotion.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806440" y="1325880"/>
            <a:ext cx="2697480" cy="457200"/>
          </a:xfrm>
          <a:prstGeom prst="rect">
            <a:avLst/>
          </a:prstGeom>
          <a:solidFill>
            <a:srgbClr val="B0573F"/>
          </a:solidFill>
          <a:ln/>
        </p:spPr>
      </p:sp>
      <p:sp>
        <p:nvSpPr>
          <p:cNvPr id="14" name="Text 12"/>
          <p:cNvSpPr/>
          <p:nvPr/>
        </p:nvSpPr>
        <p:spPr>
          <a:xfrm>
            <a:off x="5806440" y="13258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CONTROL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006840" y="1325880"/>
            <a:ext cx="2697480" cy="4572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6" name="Text 14"/>
          <p:cNvSpPr/>
          <p:nvPr/>
        </p:nvSpPr>
        <p:spPr>
          <a:xfrm>
            <a:off x="9006840" y="13258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CONTROL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806440" y="1965960"/>
            <a:ext cx="2697480" cy="548640"/>
          </a:xfrm>
          <a:prstGeom prst="rect">
            <a:avLst/>
          </a:prstGeom>
          <a:solidFill>
            <a:srgbClr val="F1E2DD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06440" y="1965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position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006840" y="1965960"/>
            <a:ext cx="2697480" cy="548640"/>
          </a:xfrm>
          <a:prstGeom prst="rect">
            <a:avLst/>
          </a:prstGeom>
          <a:solidFill>
            <a:srgbClr val="DCEDEA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06840" y="196596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force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72300" y="252374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573F"/>
                </a:solidFill>
              </a:rPr>
              <a:t>▼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172700" y="252374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E7C7B"/>
                </a:solidFill>
              </a:rPr>
              <a:t>▼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806440" y="2834640"/>
            <a:ext cx="2697480" cy="548640"/>
          </a:xfrm>
          <a:prstGeom prst="rect">
            <a:avLst/>
          </a:prstGeom>
          <a:solidFill>
            <a:srgbClr val="F1E2DD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06440" y="28346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 behavior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006840" y="2834640"/>
            <a:ext cx="2697480" cy="548640"/>
          </a:xfrm>
          <a:prstGeom prst="rect">
            <a:avLst/>
          </a:prstGeom>
          <a:solidFill>
            <a:srgbClr val="DCEDEA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06840" y="28346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Compliant interaction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72300" y="3392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0573F"/>
                </a:solidFill>
              </a:rPr>
              <a:t>▼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172700" y="3392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E7C7B"/>
                </a:solidFill>
              </a:rPr>
              <a:t>▼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806440" y="3703320"/>
            <a:ext cx="2697480" cy="548640"/>
          </a:xfrm>
          <a:prstGeom prst="rect">
            <a:avLst/>
          </a:prstGeom>
          <a:solidFill>
            <a:srgbClr val="F1E2DD"/>
          </a:solidFill>
          <a:ln w="12700">
            <a:solidFill>
              <a:srgbClr val="B0573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806440" y="370332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adaptation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9006840" y="3703320"/>
            <a:ext cx="2697480" cy="548640"/>
          </a:xfrm>
          <a:prstGeom prst="rect">
            <a:avLst/>
          </a:prstGeom>
          <a:solidFill>
            <a:srgbClr val="DCEDEA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006840" y="370332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response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02920" y="5029200"/>
            <a:ext cx="11183112" cy="91440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4" name="Text 32"/>
          <p:cNvSpPr/>
          <p:nvPr/>
        </p:nvSpPr>
        <p:spPr>
          <a:xfrm>
            <a:off x="777240" y="5138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77240" y="541324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can robots achieve safer and more adaptive locomotion in unknown environments?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5760720" y="449884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i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behavior </a:t>
            </a:r>
            <a:pPr algn="r" indent="0" marL="0">
              <a:buNone/>
            </a:pPr>
            <a:r>
              <a:rPr lang="en-US" sz="1300" b="1" i="1" dirty="0">
                <a:solidFill>
                  <a:srgbClr val="B057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pPr algn="r" indent="0" marL="0">
              <a:buNone/>
            </a:pPr>
            <a:r>
              <a:rPr lang="en-US" sz="1300" b="1" i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adaptive control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502920" y="6455664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  </a:t>
            </a:r>
            <a:pPr indent="0" marL="0">
              <a:buNone/>
            </a:pPr>
            <a:r>
              <a:rPr lang="en-US" sz="10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· Chen et al. (torque control) · Lee et al. (terrain) · Miki et al. (perceptive loco.)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SATA: Bio-inspired Adaptation in Torque Control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RL torque policy wrapped by a biomechanical layer and a growth curriculum.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14600" y="1600200"/>
            <a:ext cx="3246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51460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954780" y="215798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514600" y="2331720"/>
            <a:ext cx="3246120" cy="548640"/>
          </a:xfrm>
          <a:prstGeom prst="rect">
            <a:avLst/>
          </a:prstGeom>
          <a:solidFill>
            <a:srgbClr val="DCEDEA"/>
          </a:solidFill>
          <a:ln w="19050">
            <a:solidFill>
              <a:srgbClr val="0E7C7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514600" y="23317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Policy (RL)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954780" y="288950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3063240"/>
            <a:ext cx="3246120" cy="548640"/>
          </a:xfrm>
          <a:prstGeom prst="rect">
            <a:avLst/>
          </a:prstGeom>
          <a:solidFill>
            <a:srgbClr val="DCEDEA"/>
          </a:solidFill>
          <a:ln w="19050">
            <a:solidFill>
              <a:srgbClr val="0E7C7B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514600" y="306324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Biomechanical Layer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95478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514600" y="3794760"/>
            <a:ext cx="3246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514600" y="379476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Output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954780" y="435254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A87"/>
                </a:solidFill>
              </a:rPr>
              <a:t>▼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14600" y="4526280"/>
            <a:ext cx="32461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2514600" y="452628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194560" y="4800600"/>
            <a:ext cx="320040" cy="0"/>
          </a:xfrm>
          <a:prstGeom prst="line">
            <a:avLst/>
          </a:prstGeom>
          <a:noFill/>
          <a:ln w="31750">
            <a:solidFill>
              <a:srgbClr val="E092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194560" y="2606040"/>
            <a:ext cx="0" cy="2194560"/>
          </a:xfrm>
          <a:prstGeom prst="line">
            <a:avLst/>
          </a:prstGeom>
          <a:noFill/>
          <a:ln w="31750">
            <a:solidFill>
              <a:srgbClr val="E092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4560" y="2606040"/>
            <a:ext cx="320040" cy="0"/>
          </a:xfrm>
          <a:prstGeom prst="line">
            <a:avLst/>
          </a:prstGeom>
          <a:noFill/>
          <a:ln w="31750">
            <a:solidFill>
              <a:srgbClr val="E0922B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65760" y="329184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feedback</a:t>
            </a:r>
            <a:endParaRPr lang="en-US" sz="1200" dirty="0"/>
          </a:p>
          <a:p>
            <a:pPr algn="r" indent="0" marL="0">
              <a:buNone/>
            </a:pPr>
            <a:r>
              <a:rPr lang="en-US" sz="120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(base + fatigue)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46520" y="1554480"/>
            <a:ext cx="52578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46520" y="1554480"/>
            <a:ext cx="91440" cy="137160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7" name="Shape 25"/>
          <p:cNvSpPr/>
          <p:nvPr/>
        </p:nvSpPr>
        <p:spPr>
          <a:xfrm>
            <a:off x="6702552" y="1783080"/>
            <a:ext cx="502920" cy="502920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8" name="Text 26"/>
          <p:cNvSpPr/>
          <p:nvPr/>
        </p:nvSpPr>
        <p:spPr>
          <a:xfrm>
            <a:off x="670255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360920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Biomechanical Model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7360920" y="2194560"/>
            <a:ext cx="4160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activation  ·  muscle  ·  fatigue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446520" y="3154680"/>
            <a:ext cx="52578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446520" y="3154680"/>
            <a:ext cx="91440" cy="1371600"/>
          </a:xfrm>
          <a:prstGeom prst="rect">
            <a:avLst/>
          </a:prstGeom>
          <a:solidFill>
            <a:srgbClr val="E0922B"/>
          </a:solidFill>
          <a:ln/>
        </p:spPr>
      </p:sp>
      <p:sp>
        <p:nvSpPr>
          <p:cNvPr id="33" name="Shape 31"/>
          <p:cNvSpPr/>
          <p:nvPr/>
        </p:nvSpPr>
        <p:spPr>
          <a:xfrm>
            <a:off x="6702552" y="3383280"/>
            <a:ext cx="502920" cy="502920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34" name="Text 32"/>
          <p:cNvSpPr/>
          <p:nvPr/>
        </p:nvSpPr>
        <p:spPr>
          <a:xfrm>
            <a:off x="6702552" y="3383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7360920" y="33558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A5F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Growth Mechanism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7360920" y="3767328"/>
            <a:ext cx="4160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limit  ·  training curriculum  ·  control frequency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6446520" y="4709160"/>
            <a:ext cx="5257800" cy="868680"/>
          </a:xfrm>
          <a:prstGeom prst="rect">
            <a:avLst/>
          </a:prstGeom>
          <a:solidFill>
            <a:srgbClr val="ECF1F0"/>
          </a:solidFill>
          <a:ln w="12700">
            <a:solidFill>
              <a:srgbClr val="E5DFD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11112" y="4709160"/>
            <a:ext cx="49286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 </a:t>
            </a:r>
            <a:pPr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smoother torque generation and improved robustness through bio-inspired adaptation.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02920" y="6455664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  </a:t>
            </a:r>
            <a:pPr indent="0" marL="0">
              <a:buNone/>
            </a:pPr>
            <a:r>
              <a:rPr lang="en-US" sz="10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· Hill (muscle dynamics) · Liu et al. (fatigue) · Bellegarda &amp; Ijspeert (CPG-RL)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Plan: Understand → Reproduce → Analyze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02920" y="1078992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feasible 3-phase study, with an optional extension — we interpret SATA, not redesign the RL.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2920" y="1554480"/>
            <a:ext cx="2615184" cy="7772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9" name="Shape 7"/>
          <p:cNvSpPr/>
          <p:nvPr/>
        </p:nvSpPr>
        <p:spPr>
          <a:xfrm>
            <a:off x="667512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4440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234440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04088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Isaac Gym on a CUDA server (container / venv) and run the official SATA training.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04088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4088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running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099816" y="173736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C8A87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392424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392424" y="1554480"/>
            <a:ext cx="2615184" cy="7772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19" name="Shape 17"/>
          <p:cNvSpPr/>
          <p:nvPr/>
        </p:nvSpPr>
        <p:spPr>
          <a:xfrm>
            <a:off x="3557016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557016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123944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123944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593592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 fatigue · change torque limit · modify growth schedule · vary terrain.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593592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93592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data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989320" y="173736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C8A87"/>
                </a:solidFill>
              </a:rPr>
              <a:t>→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6281928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281928" y="1554480"/>
            <a:ext cx="2615184" cy="77724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9" name="Shape 27"/>
          <p:cNvSpPr/>
          <p:nvPr/>
        </p:nvSpPr>
        <p:spPr>
          <a:xfrm>
            <a:off x="6446520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644652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013448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013448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Interpretation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483096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↔ gain scheduling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Fatigue ↔ internal feedback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Torque limit ↔ progressive constraint modulation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(analogies, not claims)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483096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83096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&amp; discussion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8878824" y="1737360"/>
            <a:ext cx="3108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C8A87"/>
                </a:solidFill>
              </a:rPr>
              <a:t>→</a:t>
            </a:r>
            <a:endParaRPr lang="en-US" sz="1800" dirty="0"/>
          </a:p>
        </p:txBody>
      </p:sp>
      <p:sp>
        <p:nvSpPr>
          <p:cNvPr id="37" name="Shape 35"/>
          <p:cNvSpPr/>
          <p:nvPr/>
        </p:nvSpPr>
        <p:spPr>
          <a:xfrm>
            <a:off x="9171432" y="1554480"/>
            <a:ext cx="2615184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9171432" y="1554480"/>
            <a:ext cx="2615184" cy="777240"/>
          </a:xfrm>
          <a:prstGeom prst="rect">
            <a:avLst/>
          </a:prstGeom>
          <a:solidFill>
            <a:srgbClr val="8E9B98"/>
          </a:solidFill>
          <a:ln/>
        </p:spPr>
      </p:sp>
      <p:sp>
        <p:nvSpPr>
          <p:cNvPr id="39" name="Shape 37"/>
          <p:cNvSpPr/>
          <p:nvPr/>
        </p:nvSpPr>
        <p:spPr>
          <a:xfrm>
            <a:off x="9336024" y="170992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9336024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E9B9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9902952" y="1673352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OPTIONAL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902952" y="192024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Compensation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372600" y="2468880"/>
            <a:ext cx="22128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exploration.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</a:t>
            </a:r>
            <a:pPr indent="0" marL="0">
              <a:buNone/>
            </a:pPr>
            <a:r>
              <a:rPr lang="en-US" sz="1150" baseline="-400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τ</a:t>
            </a:r>
            <a:pPr indent="0" marL="0">
              <a:buNone/>
            </a:pPr>
            <a:r>
              <a:rPr lang="en-US" sz="1150" baseline="-400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τ</a:t>
            </a:r>
            <a:pPr indent="0" marL="0">
              <a:buNone/>
            </a:pPr>
            <a:r>
              <a:rPr lang="en-US" sz="1150" baseline="-400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time &amp; feasibility allow.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9372600" y="3776472"/>
            <a:ext cx="2212848" cy="0"/>
          </a:xfrm>
          <a:prstGeom prst="line">
            <a:avLst/>
          </a:prstGeom>
          <a:noFill/>
          <a:ln w="12700">
            <a:solidFill>
              <a:srgbClr val="E5DFD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72600" y="386791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 </a:t>
            </a:r>
            <a:pPr indent="0" marL="0">
              <a:buNone/>
            </a:pPr>
            <a:r>
              <a:rPr lang="en-US" sz="115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observations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502920" y="5074920"/>
            <a:ext cx="11183112" cy="86868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47" name="Text 45"/>
          <p:cNvSpPr/>
          <p:nvPr/>
        </p:nvSpPr>
        <p:spPr>
          <a:xfrm>
            <a:off x="777240" y="517550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777240" y="5431536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analyze adaptation instead of proposing new methods — we do not redesign the RL algorithm.</a:t>
            </a:r>
            <a:endParaRPr lang="en-US" sz="1550" dirty="0"/>
          </a:p>
        </p:txBody>
      </p:sp>
      <p:sp>
        <p:nvSpPr>
          <p:cNvPr id="49" name="Text 47"/>
          <p:cNvSpPr/>
          <p:nvPr/>
        </p:nvSpPr>
        <p:spPr>
          <a:xfrm>
            <a:off x="502920" y="6455664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Refs  </a:t>
            </a:r>
            <a:pPr indent="0" marL="0">
              <a:buNone/>
            </a:pPr>
            <a:r>
              <a:rPr lang="en-US" sz="1000" i="1" dirty="0">
                <a:solidFill>
                  <a:srgbClr val="7C8A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· RL2AC · DecAP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246888"/>
            <a:ext cx="475488" cy="475488"/>
          </a:xfrm>
          <a:prstGeom prst="ellipse">
            <a:avLst/>
          </a:prstGeom>
          <a:solidFill>
            <a:srgbClr val="E0922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2468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230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15568" y="146304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Expected Outputs &amp; Contribution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11183112" cy="731520"/>
          </a:xfrm>
          <a:prstGeom prst="rect">
            <a:avLst/>
          </a:prstGeom>
          <a:solidFill>
            <a:srgbClr val="DCEDEA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280160"/>
            <a:ext cx="91440" cy="7315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128016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study adaptive behavior — not propose a new RL algorithm.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02920" y="23317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123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OUTPUTS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2788920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78992" y="278892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reproduction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465576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3465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78992" y="346557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 analysis (ablation)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142232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142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78992" y="414223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control interpretation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4818888"/>
            <a:ext cx="384048" cy="384048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78992" y="4818888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Literature-grounded discussion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09360" y="23317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" kern="0" dirty="0">
                <a:solidFill>
                  <a:srgbClr val="123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QUESTIONS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6309360" y="28346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309360" y="2834640"/>
            <a:ext cx="91440" cy="11887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5" name="Text 23"/>
          <p:cNvSpPr/>
          <p:nvPr/>
        </p:nvSpPr>
        <p:spPr>
          <a:xfrm>
            <a:off x="6510528" y="29718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RQ1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510528" y="3291840"/>
            <a:ext cx="22494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torque control?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107424" y="28346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107424" y="2834640"/>
            <a:ext cx="91440" cy="11887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29" name="Text 27"/>
          <p:cNvSpPr/>
          <p:nvPr/>
        </p:nvSpPr>
        <p:spPr>
          <a:xfrm>
            <a:off x="9308592" y="29718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RQ2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308592" y="3291840"/>
            <a:ext cx="22494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creates adaptation?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309360" y="42062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309360" y="4206240"/>
            <a:ext cx="91440" cy="1188720"/>
          </a:xfrm>
          <a:prstGeom prst="rect">
            <a:avLst/>
          </a:prstGeom>
          <a:solidFill>
            <a:srgbClr val="0E7C7B"/>
          </a:solidFill>
          <a:ln/>
        </p:spPr>
      </p:sp>
      <p:sp>
        <p:nvSpPr>
          <p:cNvPr id="33" name="Text 31"/>
          <p:cNvSpPr/>
          <p:nvPr/>
        </p:nvSpPr>
        <p:spPr>
          <a:xfrm>
            <a:off x="6510528" y="43434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7C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RQ3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510528" y="4663440"/>
            <a:ext cx="22494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it relate to adaptive control?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107424" y="4206240"/>
            <a:ext cx="2615184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DFD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9107424" y="4206240"/>
            <a:ext cx="91440" cy="1188720"/>
          </a:xfrm>
          <a:prstGeom prst="rect">
            <a:avLst/>
          </a:prstGeom>
          <a:solidFill>
            <a:srgbClr val="E0922B"/>
          </a:solidFill>
          <a:ln/>
        </p:spPr>
      </p:sp>
      <p:sp>
        <p:nvSpPr>
          <p:cNvPr id="37" name="Text 35"/>
          <p:cNvSpPr/>
          <p:nvPr/>
        </p:nvSpPr>
        <p:spPr>
          <a:xfrm>
            <a:off x="9308592" y="4343400"/>
            <a:ext cx="22494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5F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RQ4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308592" y="4663440"/>
            <a:ext cx="22494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3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lightweight compensation help?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02920" y="5623560"/>
            <a:ext cx="11183112" cy="914400"/>
          </a:xfrm>
          <a:prstGeom prst="rect">
            <a:avLst/>
          </a:prstGeom>
          <a:solidFill>
            <a:srgbClr val="12302D"/>
          </a:solidFill>
          <a:ln/>
        </p:spPr>
      </p:sp>
      <p:sp>
        <p:nvSpPr>
          <p:cNvPr id="40" name="Text 38"/>
          <p:cNvSpPr/>
          <p:nvPr/>
        </p:nvSpPr>
        <p:spPr>
          <a:xfrm>
            <a:off x="777240" y="5724144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E09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LINE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77240" y="5961888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studies how bio-inspired torque control produces adaptive locomotion, and interprets it through adaptive and robust control perspectives.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Bio-inspired Adaptive Locomotion via Torque-based Learning</dc:title>
  <dc:subject>PptxGenJS Presentation</dc:subject>
  <dc:creator>SATA Progress Report</dc:creator>
  <cp:lastModifiedBy>SATA Progress Report</cp:lastModifiedBy>
  <cp:revision>1</cp:revision>
  <dcterms:created xsi:type="dcterms:W3CDTF">2026-05-24T07:35:40Z</dcterms:created>
  <dcterms:modified xsi:type="dcterms:W3CDTF">2026-05-24T07:35:40Z</dcterms:modified>
</cp:coreProperties>
</file>