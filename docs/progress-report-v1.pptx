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sec]
Open: title, course, your name — one breath, then move on.
CORE (set the frame early): We are NOT proposing a new controller. We reproduce SATA, understand its adaptive behavior, and discuss it from a control perspective.
TRANSITION: 'Let me start with why this is a control problem.'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sec]
CORE MESSAGE (repeat across the talk): We are NOT proposing a new controller. We aim to reproduce SATA, understand its adaptive behavior, and discuss it from a control perspective.
TALKING POINTS:
- Frame this as a CONTROL problem, not an RL talk.
- Position control commands a joint angle; a low-level PD loop turns the error into torque. Stiff and accurate when the world is known.
- It fails on exactly what this course cares about: compliance, disturbance rejection, unknown terrain, sim-to-real gap.
- Torque control commands force directly, so the robot can yield and adapt instead of resisting.
TRANSITION: 'The question is how to get adaptive locomotion in unknown environments — SATA is one bio-inspired answer.'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One message: SATA injects bio-inspired adaptation INTO a torque policy. Don't read equations.
- Flow: observation -&gt; RL torque policy -&gt; biomechanical layer -&gt; torque -&gt; robot; fatigue state feeds back.
- Biomechanical model: activation smooths the command, a muscle model prevents abrupt torque, fatigue discourages overusing joints.
- Growth mechanism: torque limit, reward, and control frequency unlock progressively — like an animal maturing.
- Net effect: smoother, more robust torques plus generalization, demonstrated zero-shot.
TRANSITION: 'That's what SATA is — here is how WE plan to study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Feasibility is the point of this slide: executable, not just a paper review.
- Phase 1: stand up the official SATA pipeline in Isaac Gym — proves we can run it.
- Phase 2: controlled ablations — toggle fatigue, retune torque limit / growth, change terrain; observe behavior shifts.
- Phase 3: map each mechanism to an adaptive-control reading (analogy, not equivalence).
- Phase 4 residual term only if time allows — not promised.
TRANSITION: 'So what do we expect to deliver?'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
TALKING POINTS:
- Close the loop, no overclaiming: the contribution is understanding, not a new algorithm.
- Three concrete outputs: reproduction, behavior analysis, control-theoretic interpretation.
- The four research questions map onto the four slides.
CLOSING LINE (read the bottom band): bio-inspired torque control -&gt; adaptive behavior -&gt; interpreted through adaptive &amp; robust control.
REINFORCE THE CORE: we are not proposing a new controller — reproduce SATA, understand its adaptive behavior, discuss it from a control perspective.
TRANSITION: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5544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15544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98380" y="2304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743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98380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3931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749808"/>
            <a:ext cx="566928" cy="56692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  ·   ADAPTIVE CONTROL SYSTEMS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46888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Bio-inspired Adaptive Locomotion</a:t>
            </a:r>
            <a:endParaRPr lang="en-US" sz="3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 Torque-based Learning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658368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of SATA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6656" y="4434840"/>
            <a:ext cx="1828800" cy="45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663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Chuan-Han Li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0932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05 / 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Locomotion Is a Control Problem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4983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91440" cy="13716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447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7556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Position-based locomotion is accurate under known conditions but rigid — it struggles with compliance, disturbances, unknown terrain, and the sim-to-real gap.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4983480" cy="1188720"/>
          </a:xfrm>
          <a:prstGeom prst="roundRect">
            <a:avLst>
              <a:gd name="adj" fmla="val 4615"/>
            </a:avLst>
          </a:prstGeom>
          <a:solidFill>
            <a:srgbClr val="EFEBE3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CONTROL ON UNKNOWN TERRAIN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63824"/>
            <a:ext cx="512064" cy="51206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1520" y="3703320"/>
            <a:ext cx="1417320" cy="0"/>
          </a:xfrm>
          <a:prstGeom prst="line">
            <a:avLst/>
          </a:prstGeom>
          <a:noFill/>
          <a:ln w="38100">
            <a:solidFill>
              <a:srgbClr val="9A8C7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7398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· known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3346704"/>
            <a:ext cx="457200" cy="310896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3163824"/>
            <a:ext cx="512064" cy="512064"/>
          </a:xfrm>
          <a:prstGeom prst="rect">
            <a:avLst/>
          </a:prstGeom>
        </p:spPr>
      </p:pic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2999232"/>
            <a:ext cx="256032" cy="365760"/>
          </a:xfrm>
          <a:prstGeom prst="rect">
            <a:avLst/>
          </a:prstGeom>
        </p:spPr>
      </p:pic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3182112"/>
            <a:ext cx="219456" cy="219456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3154680" y="3703320"/>
            <a:ext cx="2057400" cy="0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0" name="Text 13"/>
          <p:cNvSpPr/>
          <p:nvPr/>
        </p:nvSpPr>
        <p:spPr>
          <a:xfrm>
            <a:off x="3246120" y="373989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· unknown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02920" y="413308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2" name="Text 15"/>
          <p:cNvSpPr/>
          <p:nvPr/>
        </p:nvSpPr>
        <p:spPr>
          <a:xfrm>
            <a:off x="685800" y="4114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Torque control may improve compliance, providing conditions for more adaptive locomotion.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24" name="Text 17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CONTROL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6" name="Text 19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CONTROL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position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force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69723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101727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behavior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interaction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69723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38" name="Text 31"/>
          <p:cNvSpPr/>
          <p:nvPr/>
        </p:nvSpPr>
        <p:spPr>
          <a:xfrm>
            <a:off x="101727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adaptation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response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502920" y="502920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4" name="Text 37"/>
          <p:cNvSpPr/>
          <p:nvPr/>
        </p:nvSpPr>
        <p:spPr>
          <a:xfrm>
            <a:off x="777240" y="5138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777240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robots achieve safer and more adaptive locomotion in unknown environments?</a:t>
            </a:r>
            <a:endParaRPr lang="en-US" sz="1650" dirty="0"/>
          </a:p>
        </p:txBody>
      </p:sp>
      <p:sp>
        <p:nvSpPr>
          <p:cNvPr id="46" name="Text 39"/>
          <p:cNvSpPr/>
          <p:nvPr/>
        </p:nvSpPr>
        <p:spPr>
          <a:xfrm>
            <a:off x="5760720" y="44988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behavior </a:t>
            </a:r>
            <a:pPr algn="r" indent="0" marL="0">
              <a:buNone/>
            </a:pPr>
            <a:r>
              <a:rPr lang="en-US" sz="1300" b="1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adaptive control</a:t>
            </a:r>
            <a:endParaRPr lang="en-US" sz="1300" dirty="0"/>
          </a:p>
        </p:txBody>
      </p:sp>
      <p:sp>
        <p:nvSpPr>
          <p:cNvPr id="47" name="Text 40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Chen et al. (torque control) · Lee et al. (terrain) · Miki et al. (perceptive loco.)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SATA: Bio-inspired Adaptation in Torque Control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RL torque policy wrapped by a biomechanical layer and a growth curriculum.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54780" y="21671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441448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24414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Policy (RL)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4780" y="300837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3282696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28269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54780" y="38496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4123944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14600" y="412394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Output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54780" y="46908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4965192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49651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194560" y="5239512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715768"/>
            <a:ext cx="0" cy="2523744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2715768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5661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feedback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+ fatigue)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5065776"/>
            <a:ext cx="347472" cy="347472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446520" y="1554480"/>
            <a:ext cx="5257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46520" y="1554480"/>
            <a:ext cx="91440" cy="14630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Shape 25"/>
          <p:cNvSpPr/>
          <p:nvPr/>
        </p:nvSpPr>
        <p:spPr>
          <a:xfrm>
            <a:off x="6702552" y="175564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9" name="Text 26"/>
          <p:cNvSpPr/>
          <p:nvPr/>
        </p:nvSpPr>
        <p:spPr>
          <a:xfrm>
            <a:off x="6702552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360920" y="17373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Biomechanical Model</a:t>
            </a:r>
            <a:endParaRPr lang="en-US" sz="1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31720"/>
            <a:ext cx="292608" cy="29260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70839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11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31720"/>
            <a:ext cx="292608" cy="29260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12571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</a:t>
            </a:r>
            <a:endParaRPr lang="en-US" sz="11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2331720"/>
            <a:ext cx="292608" cy="29260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54303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6446520" y="31546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446520" y="3154680"/>
            <a:ext cx="91440" cy="137160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9" name="Shape 33"/>
          <p:cNvSpPr/>
          <p:nvPr/>
        </p:nvSpPr>
        <p:spPr>
          <a:xfrm>
            <a:off x="6702552" y="3383280"/>
            <a:ext cx="502920" cy="502920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0" name="Text 34"/>
          <p:cNvSpPr/>
          <p:nvPr/>
        </p:nvSpPr>
        <p:spPr>
          <a:xfrm>
            <a:off x="670255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41" name="Text 35"/>
          <p:cNvSpPr/>
          <p:nvPr/>
        </p:nvSpPr>
        <p:spPr>
          <a:xfrm>
            <a:off x="7360920" y="3355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Mechanism</a:t>
            </a:r>
            <a:endParaRPr lang="en-US" sz="1800" dirty="0"/>
          </a:p>
        </p:txBody>
      </p:sp>
      <p:sp>
        <p:nvSpPr>
          <p:cNvPr id="42" name="Text 36"/>
          <p:cNvSpPr/>
          <p:nvPr/>
        </p:nvSpPr>
        <p:spPr>
          <a:xfrm>
            <a:off x="7360920" y="37673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 ·  training curriculum  ·  control frequency</a:t>
            </a:r>
            <a:endParaRPr lang="en-US" sz="1400" dirty="0"/>
          </a:p>
        </p:txBody>
      </p:sp>
      <p:sp>
        <p:nvSpPr>
          <p:cNvPr id="43" name="Shape 37"/>
          <p:cNvSpPr/>
          <p:nvPr/>
        </p:nvSpPr>
        <p:spPr>
          <a:xfrm>
            <a:off x="6446520" y="4709160"/>
            <a:ext cx="5257800" cy="868680"/>
          </a:xfrm>
          <a:prstGeom prst="rect">
            <a:avLst/>
          </a:prstGeom>
          <a:solidFill>
            <a:srgbClr val="ECF1F0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11112" y="470916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smoother torque generation and improved robustness through bio-inspired adaptation.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Hill (muscle dynamics) · Liu et al. (fatigue) · Bellegarda &amp; Ijspeert (CPG-RL)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Plan: Understand → Reproduce → Analyze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feasible 3-phase study, with an optional extension — we study SATA, not redesign the RL.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Isaac Gym on a CUDA server (container / venv) and run the official SATA training.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9816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92424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92424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23944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23944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93592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fatigue · change torque limit · modify growth schedule · vary terrain.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93592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89320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81928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13448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13448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Perspective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83096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from adaptive control: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↔ gain scheduling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↔ feedback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modulation ↔ robustness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83096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3096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discussion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878824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71432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71432" y="1554480"/>
            <a:ext cx="2615184" cy="777240"/>
          </a:xfrm>
          <a:prstGeom prst="rect">
            <a:avLst/>
          </a:prstGeom>
          <a:solidFill>
            <a:srgbClr val="8E9B98"/>
          </a:solidFill>
          <a:ln/>
        </p:spPr>
      </p:sp>
      <p:sp>
        <p:nvSpPr>
          <p:cNvPr id="39" name="Shape 37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9B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902952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OPTIONAL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02952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Compensation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72600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exploration.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time &amp; feasibility allow.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372600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observations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074920"/>
            <a:ext cx="11183112" cy="86868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1755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431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analyze adaptation instead of proposing new methods — we do not redesign the RL algorithm.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RL2AC · DecAP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Outputs &amp; Contribution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80160"/>
            <a:ext cx="9144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study adaptive behavior — not propose a new RL algorithm.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788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4655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analysis (ablation)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Control-perspective comparison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78992" y="4818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discussion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093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torque control?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07424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07424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9308592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creates adaptation?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0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2062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10528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SATA address problems traditionally studied in adaptive control?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07424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07424" y="4206240"/>
            <a:ext cx="91440" cy="1188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lightweight compensation help?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02920" y="562356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studies how bio-inspired torque control produces adaptive locomotion, and interprets it through adaptive and robust control perspectives.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Adaptive Locomotion via Torque-based Learning</dc:title>
  <dc:subject>PptxGenJS Presentation</dc:subject>
  <dc:creator>SATA Progress Report</dc:creator>
  <cp:lastModifiedBy>SATA Progress Report</cp:lastModifiedBy>
  <cp:revision>1</cp:revision>
  <dcterms:created xsi:type="dcterms:W3CDTF">2026-05-24T08:08:40Z</dcterms:created>
  <dcterms:modified xsi:type="dcterms:W3CDTF">2026-05-24T08:08:40Z</dcterms:modified>
</cp:coreProperties>
</file>