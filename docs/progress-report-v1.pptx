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[~10 sec]
Open: title, course, your name — one breath, then move on.
CORE (set the frame early): We are NOT proposing a new controller. We reproduce SATA, understand its adaptive behavior, and discuss it from a control perspective.
TRANSITION: 'Let me start with why this is a control problem.'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[~40 sec]
CORE MESSAGE (repeat across the talk): We are NOT proposing a new controller. We aim to reproduce SATA, understand its adaptive behavior, and discuss it from a control perspective.
TALKING POINTS:
- Frame this as a CONTROL problem, not an RL talk.
- Position control commands a joint angle; a low-level PD loop turns the error into torque. Stiff and accurate when the world is known.
- It fails on exactly what this course cares about: compliance, disturbance rejection, unknown terrain, sim-to-real gap.
- Torque control commands force directly, so the robot can yield and adapt instead of resisting.
TRANSITION: 'The question is how to get adaptive locomotion in unknown environments — SATA is one bio-inspired answer.'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
TALKING POINTS:
- One message: SATA injects bio-inspired adaptation INTO a torque policy. Don't read equations.
- Flow: observation -&gt; RL torque policy -&gt; biomechanical layer -&gt; torque -&gt; robot; fatigue state feeds back.
- Biomechanical model: activation smooths the command, a muscle model prevents abrupt torque, fatigue discourages overusing joints.
- Growth mechanism: torque limit, reward, and control frequency unlock progressively — like an animal maturing.
- Net effect: smoother, more robust torques plus generalization, demonstrated zero-shot.
TRANSITION: 'That's what SATA is — here is how WE plan to study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
TALKING POINTS:
- Feasibility is the point of this slide: executable, not just a paper review.
- Phase 1: stand up the official SATA pipeline in Isaac Gym — proves we can run it.
- Phase 2: controlled ablations — toggle fatigue, retune torque limit / growth, change terrain; observe behavior shifts.
- Phase 3: map each mechanism to an adaptive-control reading (analogy, not equivalence).
- Phase 4 residual term only if time allows — not promised.
TRANSITION: 'So what do we expect to deliver?'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
TALKING POINTS:
- Close the loop, no overclaiming: the contribution is understanding, not a new algorithm.
- Three concrete outputs: reproduction, behavior analysis, control-theoretic interpretation.
- The four research questions map onto the four slides.
CLOSING LINE (read the bottom band): bio-inspired torque control -&gt; adaptive behavior -&gt; interpreted through adaptive &amp; robust control.
REINFORCE THE CORE: we are not proposing a new controller — reproduce SATA, understand its adaptive behavior, discuss it from a control perspective.
TRANSITION: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55448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C403C"/>
          </a:solidFill>
          <a:ln w="12700">
            <a:solidFill>
              <a:srgbClr val="2A53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732520" y="155448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898380" y="2304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534F"/>
                </a:solidFill>
              </a:rPr>
              <a:t>▼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732520" y="274320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C403C"/>
          </a:solidFill>
          <a:ln w="12700">
            <a:solidFill>
              <a:srgbClr val="2A53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32520" y="274320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898380" y="3493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534F"/>
                </a:solidFill>
              </a:rPr>
              <a:t>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732520" y="393192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C403C"/>
          </a:solidFill>
          <a:ln w="12700">
            <a:solidFill>
              <a:srgbClr val="2A534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3931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749808"/>
            <a:ext cx="566928" cy="56692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7498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τ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822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REPORT   ·   ADAPTIVE CONTROL SYSTEMS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2240280"/>
            <a:ext cx="7772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Bio-inspired Adaptive Locomotion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via Torque-based Learning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58368" y="39776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BFE0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Case Study of SATA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76656" y="4754880"/>
            <a:ext cx="1828800" cy="45720"/>
          </a:xfrm>
          <a:prstGeom prst="rect">
            <a:avLst/>
          </a:prstGeom>
          <a:solidFill>
            <a:srgbClr val="E0922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983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Chuan-Han Li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40080" y="54132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05 / 25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Locomotion Is a Control Problem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4983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325880"/>
            <a:ext cx="91440" cy="1371600"/>
          </a:xfrm>
          <a:prstGeom prst="rect">
            <a:avLst/>
          </a:prstGeom>
          <a:solidFill>
            <a:srgbClr val="B0573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4447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175564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Position-based locomotion is accurate under known conditions but rigid — it struggles with compliance, disturbances, unknown terrain, and the sim-to-real gap.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4983480" cy="1188720"/>
          </a:xfrm>
          <a:prstGeom prst="roundRect">
            <a:avLst>
              <a:gd name="adj" fmla="val 4615"/>
            </a:avLst>
          </a:prstGeom>
          <a:solidFill>
            <a:srgbClr val="EFEBE3"/>
          </a:solidFill>
          <a:ln w="12700">
            <a:solidFill>
              <a:srgbClr val="E5DF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283464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 CONTROL ON UNKNOWN TERRAIN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3675888"/>
            <a:ext cx="1325880" cy="0"/>
          </a:xfrm>
          <a:prstGeom prst="line">
            <a:avLst/>
          </a:prstGeom>
          <a:noFill/>
          <a:ln w="38100">
            <a:solidFill>
              <a:srgbClr val="9A8C7A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3127248"/>
            <a:ext cx="512064" cy="51206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85800" y="370332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 · known</a:t>
            </a:r>
            <a:endParaRPr lang="en-US" sz="9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310128"/>
            <a:ext cx="457200" cy="32918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063240" y="3675888"/>
            <a:ext cx="777240" cy="0"/>
          </a:xfrm>
          <a:prstGeom prst="line">
            <a:avLst/>
          </a:prstGeom>
          <a:noFill/>
          <a:ln w="38100">
            <a:solidFill>
              <a:srgbClr val="B0573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840480" y="3675888"/>
            <a:ext cx="292608" cy="237744"/>
          </a:xfrm>
          <a:prstGeom prst="line">
            <a:avLst/>
          </a:prstGeom>
          <a:noFill/>
          <a:ln w="38100">
            <a:solidFill>
              <a:srgbClr val="B0573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33088" y="3913632"/>
            <a:ext cx="274320" cy="-237744"/>
          </a:xfrm>
          <a:prstGeom prst="line">
            <a:avLst/>
          </a:prstGeom>
          <a:noFill/>
          <a:ln w="38100">
            <a:solidFill>
              <a:srgbClr val="B0573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407408" y="3675888"/>
            <a:ext cx="822960" cy="0"/>
          </a:xfrm>
          <a:prstGeom prst="line">
            <a:avLst/>
          </a:prstGeom>
          <a:noFill/>
          <a:ln w="38100">
            <a:solidFill>
              <a:srgbClr val="B0573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3127248"/>
            <a:ext cx="512064" cy="512064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3054096"/>
            <a:ext cx="274320" cy="384048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6048" y="312724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063240" y="37033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· unknown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502920" y="413308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5" name="Text 18"/>
          <p:cNvSpPr/>
          <p:nvPr/>
        </p:nvSpPr>
        <p:spPr>
          <a:xfrm>
            <a:off x="685800" y="411480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Torque control may improve compliance, providing conditions for more adaptive locomotion.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806440" y="1325880"/>
            <a:ext cx="2697480" cy="457200"/>
          </a:xfrm>
          <a:prstGeom prst="rect">
            <a:avLst/>
          </a:prstGeom>
          <a:solidFill>
            <a:srgbClr val="B0573F"/>
          </a:solidFill>
          <a:ln/>
        </p:spPr>
      </p:sp>
      <p:sp>
        <p:nvSpPr>
          <p:cNvPr id="27" name="Text 20"/>
          <p:cNvSpPr/>
          <p:nvPr/>
        </p:nvSpPr>
        <p:spPr>
          <a:xfrm>
            <a:off x="5806440" y="1325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CONTROL</a:t>
            </a:r>
            <a:endParaRPr lang="en-US" sz="1250" dirty="0"/>
          </a:p>
        </p:txBody>
      </p:sp>
      <p:sp>
        <p:nvSpPr>
          <p:cNvPr id="28" name="Shape 21"/>
          <p:cNvSpPr/>
          <p:nvPr/>
        </p:nvSpPr>
        <p:spPr>
          <a:xfrm>
            <a:off x="9006840" y="1325880"/>
            <a:ext cx="2697480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9" name="Text 22"/>
          <p:cNvSpPr/>
          <p:nvPr/>
        </p:nvSpPr>
        <p:spPr>
          <a:xfrm>
            <a:off x="9006840" y="1325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CONTROL</a:t>
            </a:r>
            <a:endParaRPr lang="en-US" sz="1250" dirty="0"/>
          </a:p>
        </p:txBody>
      </p:sp>
      <p:sp>
        <p:nvSpPr>
          <p:cNvPr id="30" name="Shape 23"/>
          <p:cNvSpPr/>
          <p:nvPr/>
        </p:nvSpPr>
        <p:spPr>
          <a:xfrm>
            <a:off x="5806440" y="1965960"/>
            <a:ext cx="2697480" cy="548640"/>
          </a:xfrm>
          <a:prstGeom prst="rect">
            <a:avLst/>
          </a:prstGeom>
          <a:solidFill>
            <a:srgbClr val="F1E2DD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5806440" y="1965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position</a:t>
            </a:r>
            <a:endParaRPr lang="en-US" sz="1300" dirty="0"/>
          </a:p>
        </p:txBody>
      </p:sp>
      <p:sp>
        <p:nvSpPr>
          <p:cNvPr id="32" name="Shape 25"/>
          <p:cNvSpPr/>
          <p:nvPr/>
        </p:nvSpPr>
        <p:spPr>
          <a:xfrm>
            <a:off x="9006840" y="1965960"/>
            <a:ext cx="2697480" cy="548640"/>
          </a:xfrm>
          <a:prstGeom prst="rect">
            <a:avLst/>
          </a:prstGeom>
          <a:solidFill>
            <a:srgbClr val="DCEDEA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9006840" y="1965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force</a:t>
            </a:r>
            <a:endParaRPr lang="en-US" sz="1300" dirty="0"/>
          </a:p>
        </p:txBody>
      </p:sp>
      <p:sp>
        <p:nvSpPr>
          <p:cNvPr id="34" name="Text 27"/>
          <p:cNvSpPr/>
          <p:nvPr/>
        </p:nvSpPr>
        <p:spPr>
          <a:xfrm>
            <a:off x="6972300" y="252374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573F"/>
                </a:solidFill>
              </a:rPr>
              <a:t>▼</a:t>
            </a:r>
            <a:endParaRPr lang="en-US" sz="1200" dirty="0"/>
          </a:p>
        </p:txBody>
      </p:sp>
      <p:sp>
        <p:nvSpPr>
          <p:cNvPr id="35" name="Text 28"/>
          <p:cNvSpPr/>
          <p:nvPr/>
        </p:nvSpPr>
        <p:spPr>
          <a:xfrm>
            <a:off x="10172700" y="252374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E7C7B"/>
                </a:solidFill>
              </a:rPr>
              <a:t>▼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5806440" y="2834640"/>
            <a:ext cx="2697480" cy="548640"/>
          </a:xfrm>
          <a:prstGeom prst="rect">
            <a:avLst/>
          </a:prstGeom>
          <a:solidFill>
            <a:srgbClr val="F1E2DD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5806440" y="28346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 behavior</a:t>
            </a:r>
            <a:endParaRPr lang="en-US" sz="1300" dirty="0"/>
          </a:p>
        </p:txBody>
      </p:sp>
      <p:sp>
        <p:nvSpPr>
          <p:cNvPr id="38" name="Shape 31"/>
          <p:cNvSpPr/>
          <p:nvPr/>
        </p:nvSpPr>
        <p:spPr>
          <a:xfrm>
            <a:off x="9006840" y="2834640"/>
            <a:ext cx="2697480" cy="548640"/>
          </a:xfrm>
          <a:prstGeom prst="rect">
            <a:avLst/>
          </a:prstGeom>
          <a:solidFill>
            <a:srgbClr val="DCEDEA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9006840" y="28346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interaction</a:t>
            </a:r>
            <a:endParaRPr lang="en-US" sz="1300" dirty="0"/>
          </a:p>
        </p:txBody>
      </p:sp>
      <p:sp>
        <p:nvSpPr>
          <p:cNvPr id="40" name="Text 33"/>
          <p:cNvSpPr/>
          <p:nvPr/>
        </p:nvSpPr>
        <p:spPr>
          <a:xfrm>
            <a:off x="6972300" y="3392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573F"/>
                </a:solidFill>
              </a:rPr>
              <a:t>▼</a:t>
            </a:r>
            <a:endParaRPr lang="en-US" sz="1200" dirty="0"/>
          </a:p>
        </p:txBody>
      </p:sp>
      <p:sp>
        <p:nvSpPr>
          <p:cNvPr id="41" name="Text 34"/>
          <p:cNvSpPr/>
          <p:nvPr/>
        </p:nvSpPr>
        <p:spPr>
          <a:xfrm>
            <a:off x="10172700" y="3392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E7C7B"/>
                </a:solidFill>
              </a:rPr>
              <a:t>▼</a:t>
            </a:r>
            <a:endParaRPr lang="en-US" sz="1200" dirty="0"/>
          </a:p>
        </p:txBody>
      </p:sp>
      <p:sp>
        <p:nvSpPr>
          <p:cNvPr id="42" name="Shape 35"/>
          <p:cNvSpPr/>
          <p:nvPr/>
        </p:nvSpPr>
        <p:spPr>
          <a:xfrm>
            <a:off x="5806440" y="3703320"/>
            <a:ext cx="2697480" cy="548640"/>
          </a:xfrm>
          <a:prstGeom prst="rect">
            <a:avLst/>
          </a:prstGeom>
          <a:solidFill>
            <a:srgbClr val="F1E2DD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5806440" y="370332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adaptation</a:t>
            </a:r>
            <a:endParaRPr lang="en-US" sz="1300" dirty="0"/>
          </a:p>
        </p:txBody>
      </p:sp>
      <p:sp>
        <p:nvSpPr>
          <p:cNvPr id="44" name="Shape 37"/>
          <p:cNvSpPr/>
          <p:nvPr/>
        </p:nvSpPr>
        <p:spPr>
          <a:xfrm>
            <a:off x="9006840" y="3703320"/>
            <a:ext cx="2697480" cy="548640"/>
          </a:xfrm>
          <a:prstGeom prst="rect">
            <a:avLst/>
          </a:prstGeom>
          <a:solidFill>
            <a:srgbClr val="DCEDEA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9006840" y="370332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response</a:t>
            </a:r>
            <a:endParaRPr lang="en-US" sz="1300" dirty="0"/>
          </a:p>
        </p:txBody>
      </p:sp>
      <p:sp>
        <p:nvSpPr>
          <p:cNvPr id="46" name="Shape 39"/>
          <p:cNvSpPr/>
          <p:nvPr/>
        </p:nvSpPr>
        <p:spPr>
          <a:xfrm>
            <a:off x="502920" y="5029200"/>
            <a:ext cx="11183112" cy="91440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47" name="Text 40"/>
          <p:cNvSpPr/>
          <p:nvPr/>
        </p:nvSpPr>
        <p:spPr>
          <a:xfrm>
            <a:off x="777240" y="5138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100" dirty="0"/>
          </a:p>
        </p:txBody>
      </p:sp>
      <p:sp>
        <p:nvSpPr>
          <p:cNvPr id="48" name="Text 41"/>
          <p:cNvSpPr/>
          <p:nvPr/>
        </p:nvSpPr>
        <p:spPr>
          <a:xfrm>
            <a:off x="777240" y="54132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can robots achieve safer and more adaptive locomotion in unknown environments?</a:t>
            </a:r>
            <a:endParaRPr lang="en-US" sz="1650" dirty="0"/>
          </a:p>
        </p:txBody>
      </p:sp>
      <p:sp>
        <p:nvSpPr>
          <p:cNvPr id="49" name="Text 42"/>
          <p:cNvSpPr/>
          <p:nvPr/>
        </p:nvSpPr>
        <p:spPr>
          <a:xfrm>
            <a:off x="5760720" y="449884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behavior </a:t>
            </a:r>
            <a:pPr algn="r" indent="0" marL="0">
              <a:buNone/>
            </a:pPr>
            <a:r>
              <a:rPr lang="en-US" sz="1300" b="1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pPr algn="r" indent="0" marL="0">
              <a:buNone/>
            </a:pPr>
            <a:r>
              <a:rPr lang="en-US" sz="1300" b="1" i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adaptive control</a:t>
            </a:r>
            <a:endParaRPr lang="en-US" sz="1300" dirty="0"/>
          </a:p>
        </p:txBody>
      </p:sp>
      <p:sp>
        <p:nvSpPr>
          <p:cNvPr id="50" name="Text 43"/>
          <p:cNvSpPr/>
          <p:nvPr/>
        </p:nvSpPr>
        <p:spPr>
          <a:xfrm>
            <a:off x="502920" y="64556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  </a:t>
            </a:r>
            <a:pPr indent="0" marL="0">
              <a:buNone/>
            </a:pPr>
            <a:r>
              <a:rPr lang="en-US" sz="10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· Chen et al. (torque control) · Lee et al. (terrain) · Miki et al. (perceptive loco.)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SATA: Bio-inspired Adaptation in Torque Control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RL torque policy wrapped by a biomechanical layer and a growth curriculum.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14600" y="1600200"/>
            <a:ext cx="3246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1460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954780" y="21579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14600" y="2331720"/>
            <a:ext cx="3246120" cy="548640"/>
          </a:xfrm>
          <a:prstGeom prst="rect">
            <a:avLst/>
          </a:prstGeom>
          <a:solidFill>
            <a:srgbClr val="DCEDEA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514600" y="23317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Policy (RL)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954780" y="288950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3063240"/>
            <a:ext cx="3246120" cy="548640"/>
          </a:xfrm>
          <a:prstGeom prst="rect">
            <a:avLst/>
          </a:prstGeom>
          <a:solidFill>
            <a:srgbClr val="DCEDEA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514600" y="306324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Biomechanical Layer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95478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514600" y="3794760"/>
            <a:ext cx="3246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514600" y="379476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Output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954780" y="435254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14600" y="4526280"/>
            <a:ext cx="3246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514600" y="45262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194560" y="4800600"/>
            <a:ext cx="320040" cy="0"/>
          </a:xfrm>
          <a:prstGeom prst="line">
            <a:avLst/>
          </a:prstGeom>
          <a:noFill/>
          <a:ln w="31750">
            <a:solidFill>
              <a:srgbClr val="E092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4560" y="2606040"/>
            <a:ext cx="0" cy="2194560"/>
          </a:xfrm>
          <a:prstGeom prst="line">
            <a:avLst/>
          </a:prstGeom>
          <a:noFill/>
          <a:ln w="31750">
            <a:solidFill>
              <a:srgbClr val="E092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4560" y="2606040"/>
            <a:ext cx="320040" cy="0"/>
          </a:xfrm>
          <a:prstGeom prst="line">
            <a:avLst/>
          </a:prstGeom>
          <a:noFill/>
          <a:ln w="31750">
            <a:solidFill>
              <a:srgbClr val="E0922B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65760" y="32918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feedback</a:t>
            </a:r>
            <a:endParaRPr lang="en-US" sz="1200" dirty="0"/>
          </a:p>
          <a:p>
            <a:pPr algn="r" indent="0" marL="0">
              <a:buNone/>
            </a:pPr>
            <a:r>
              <a:rPr lang="en-US" sz="120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(base + fatigue)</a:t>
            </a:r>
            <a:endParaRPr lang="en-US" sz="12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1800" y="4626864"/>
            <a:ext cx="347472" cy="347472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446520" y="1554480"/>
            <a:ext cx="5257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446520" y="1554480"/>
            <a:ext cx="91440" cy="14630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8" name="Shape 25"/>
          <p:cNvSpPr/>
          <p:nvPr/>
        </p:nvSpPr>
        <p:spPr>
          <a:xfrm>
            <a:off x="6702552" y="175564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9" name="Text 26"/>
          <p:cNvSpPr/>
          <p:nvPr/>
        </p:nvSpPr>
        <p:spPr>
          <a:xfrm>
            <a:off x="6702552" y="1755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7360920" y="17373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Biomechanical Model</a:t>
            </a:r>
            <a:endParaRPr lang="en-US" sz="18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2331720"/>
            <a:ext cx="292608" cy="292608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7708392" y="233172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</a:t>
            </a:r>
            <a:endParaRPr lang="en-US" sz="1150" dirty="0"/>
          </a:p>
        </p:txBody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331720"/>
            <a:ext cx="292608" cy="292608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9125712" y="233172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muscle</a:t>
            </a:r>
            <a:endParaRPr lang="en-US" sz="1150" dirty="0"/>
          </a:p>
        </p:txBody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5560" y="2331720"/>
            <a:ext cx="292608" cy="292608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0543032" y="233172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6446520" y="3154680"/>
            <a:ext cx="5257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6446520" y="3154680"/>
            <a:ext cx="91440" cy="1371600"/>
          </a:xfrm>
          <a:prstGeom prst="rect">
            <a:avLst/>
          </a:prstGeom>
          <a:solidFill>
            <a:srgbClr val="E0922B"/>
          </a:solidFill>
          <a:ln/>
        </p:spPr>
      </p:sp>
      <p:sp>
        <p:nvSpPr>
          <p:cNvPr id="39" name="Shape 33"/>
          <p:cNvSpPr/>
          <p:nvPr/>
        </p:nvSpPr>
        <p:spPr>
          <a:xfrm>
            <a:off x="6702552" y="3383280"/>
            <a:ext cx="502920" cy="502920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0" name="Text 34"/>
          <p:cNvSpPr/>
          <p:nvPr/>
        </p:nvSpPr>
        <p:spPr>
          <a:xfrm>
            <a:off x="6702552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</a:t>
            </a:r>
            <a:endParaRPr lang="en-US" sz="1800" dirty="0"/>
          </a:p>
        </p:txBody>
      </p:sp>
      <p:sp>
        <p:nvSpPr>
          <p:cNvPr id="41" name="Text 35"/>
          <p:cNvSpPr/>
          <p:nvPr/>
        </p:nvSpPr>
        <p:spPr>
          <a:xfrm>
            <a:off x="7360920" y="33558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5F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 Mechanism</a:t>
            </a:r>
            <a:endParaRPr lang="en-US" sz="1800" dirty="0"/>
          </a:p>
        </p:txBody>
      </p:sp>
      <p:sp>
        <p:nvSpPr>
          <p:cNvPr id="42" name="Text 36"/>
          <p:cNvSpPr/>
          <p:nvPr/>
        </p:nvSpPr>
        <p:spPr>
          <a:xfrm>
            <a:off x="7360920" y="3767328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limit  ·  training curriculum  ·  control frequency</a:t>
            </a:r>
            <a:endParaRPr lang="en-US" sz="1400" dirty="0"/>
          </a:p>
        </p:txBody>
      </p:sp>
      <p:sp>
        <p:nvSpPr>
          <p:cNvPr id="43" name="Shape 37"/>
          <p:cNvSpPr/>
          <p:nvPr/>
        </p:nvSpPr>
        <p:spPr>
          <a:xfrm>
            <a:off x="6446520" y="4709160"/>
            <a:ext cx="5257800" cy="868680"/>
          </a:xfrm>
          <a:prstGeom prst="rect">
            <a:avLst/>
          </a:prstGeom>
          <a:solidFill>
            <a:srgbClr val="ECF1F0"/>
          </a:solidFill>
          <a:ln w="12700">
            <a:solidFill>
              <a:srgbClr val="E5DFD4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6611112" y="4709160"/>
            <a:ext cx="4928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 </a:t>
            </a:r>
            <a:pPr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smoother torque generation and improved robustness through bio-inspired adaptation.</a:t>
            </a:r>
            <a:endParaRPr lang="en-US" sz="1300" dirty="0"/>
          </a:p>
        </p:txBody>
      </p:sp>
      <p:sp>
        <p:nvSpPr>
          <p:cNvPr id="45" name="Text 39"/>
          <p:cNvSpPr/>
          <p:nvPr/>
        </p:nvSpPr>
        <p:spPr>
          <a:xfrm>
            <a:off x="502920" y="64556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  </a:t>
            </a:r>
            <a:pPr indent="0" marL="0">
              <a:buNone/>
            </a:pPr>
            <a:r>
              <a:rPr lang="en-US" sz="10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· Hill (muscle dynamics) · Liu et al. (fatigue) · Bellegarda &amp; Ijspeert (CPG-RL)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Plan: Understand → Reproduce → Analyze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feasible 3-phase study, with an optional extension — we interpret SATA, not redesign the RL.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554480"/>
            <a:ext cx="2615184" cy="777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4440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234440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4088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Isaac Gym on a CUDA server (container / venv) and run the official SATA training.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04088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running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099816" y="1737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8A87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392424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392424" y="1554480"/>
            <a:ext cx="2615184" cy="777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9" name="Shape 17"/>
          <p:cNvSpPr/>
          <p:nvPr/>
        </p:nvSpPr>
        <p:spPr>
          <a:xfrm>
            <a:off x="3557016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557016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123944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23944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93592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 fatigue · change torque limit · modify growth schedule · vary terrain.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593592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93592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data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989320" y="1737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8A87"/>
                </a:solidFill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281928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81928" y="1554480"/>
            <a:ext cx="2615184" cy="777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9" name="Shape 27"/>
          <p:cNvSpPr/>
          <p:nvPr/>
        </p:nvSpPr>
        <p:spPr>
          <a:xfrm>
            <a:off x="6446520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644652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013448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013448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Interpretation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483096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↔ gain scheduling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 ↔ internal feedback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limit ↔ progressive constraint modulation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(analogies, not claims)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83096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83096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&amp; discussion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878824" y="1737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8A87"/>
                </a:solidFill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9171432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9171432" y="1554480"/>
            <a:ext cx="2615184" cy="777240"/>
          </a:xfrm>
          <a:prstGeom prst="rect">
            <a:avLst/>
          </a:prstGeom>
          <a:solidFill>
            <a:srgbClr val="8E9B98"/>
          </a:solidFill>
          <a:ln/>
        </p:spPr>
      </p:sp>
      <p:sp>
        <p:nvSpPr>
          <p:cNvPr id="39" name="Shape 37"/>
          <p:cNvSpPr/>
          <p:nvPr/>
        </p:nvSpPr>
        <p:spPr>
          <a:xfrm>
            <a:off x="9336024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9336024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E9B9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9902952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OPTIONAL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902952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Compensation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372600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exploration.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</a:t>
            </a:r>
            <a:pPr indent="0" marL="0">
              <a:buNone/>
            </a:pPr>
            <a:r>
              <a:rPr lang="en-US" sz="1150" baseline="-400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τ</a:t>
            </a:r>
            <a:pPr indent="0" marL="0">
              <a:buNone/>
            </a:pPr>
            <a:r>
              <a:rPr lang="en-US" sz="1150" baseline="-400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τ</a:t>
            </a:r>
            <a:pPr indent="0" marL="0">
              <a:buNone/>
            </a:pPr>
            <a:r>
              <a:rPr lang="en-US" sz="1150" baseline="-400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time &amp; feasibility allow.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372600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72600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observations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02920" y="5074920"/>
            <a:ext cx="11183112" cy="86868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47" name="Text 45"/>
          <p:cNvSpPr/>
          <p:nvPr/>
        </p:nvSpPr>
        <p:spPr>
          <a:xfrm>
            <a:off x="777240" y="517550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77240" y="5431536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analyze adaptation instead of proposing new methods — we do not redesign the RL algorithm.</a:t>
            </a:r>
            <a:endParaRPr lang="en-US" sz="1550" dirty="0"/>
          </a:p>
        </p:txBody>
      </p:sp>
      <p:sp>
        <p:nvSpPr>
          <p:cNvPr id="49" name="Text 47"/>
          <p:cNvSpPr/>
          <p:nvPr/>
        </p:nvSpPr>
        <p:spPr>
          <a:xfrm>
            <a:off x="502920" y="64556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  </a:t>
            </a:r>
            <a:pPr indent="0" marL="0">
              <a:buNone/>
            </a:pPr>
            <a:r>
              <a:rPr lang="en-US" sz="10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· RL2AC · DecAP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Expected Outputs &amp; Contribution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1183112" cy="731520"/>
          </a:xfrm>
          <a:prstGeom prst="rect">
            <a:avLst/>
          </a:prstGeom>
          <a:solidFill>
            <a:srgbClr val="DCEDEA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280160"/>
            <a:ext cx="91440" cy="7315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28016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study adaptive behavior — not propose a new RL algorithm.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2331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123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78892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78992" y="27889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reproduction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46557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465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78992" y="346557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analysis (ablation)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142232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78992" y="414223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control interpretation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818888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78992" y="4818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Literature-grounded discussion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09360" y="2331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123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309360" y="28346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2834640"/>
            <a:ext cx="91440" cy="11887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5" name="Text 23"/>
          <p:cNvSpPr/>
          <p:nvPr/>
        </p:nvSpPr>
        <p:spPr>
          <a:xfrm>
            <a:off x="6510528" y="29718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RQ1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10528" y="3291840"/>
            <a:ext cx="22494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torque control?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107424" y="28346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107424" y="2834640"/>
            <a:ext cx="91440" cy="11887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9" name="Text 27"/>
          <p:cNvSpPr/>
          <p:nvPr/>
        </p:nvSpPr>
        <p:spPr>
          <a:xfrm>
            <a:off x="9308592" y="29718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308592" y="3291840"/>
            <a:ext cx="22494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creates adaptation?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09360" y="42062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309360" y="4206240"/>
            <a:ext cx="91440" cy="11887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3" name="Text 31"/>
          <p:cNvSpPr/>
          <p:nvPr/>
        </p:nvSpPr>
        <p:spPr>
          <a:xfrm>
            <a:off x="6510528" y="43434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RQ3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510528" y="4663440"/>
            <a:ext cx="22494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it relate to adaptive control?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107424" y="42062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107424" y="4206240"/>
            <a:ext cx="91440" cy="1188720"/>
          </a:xfrm>
          <a:prstGeom prst="rect">
            <a:avLst/>
          </a:prstGeom>
          <a:solidFill>
            <a:srgbClr val="E0922B"/>
          </a:solidFill>
          <a:ln/>
        </p:spPr>
      </p:sp>
      <p:sp>
        <p:nvSpPr>
          <p:cNvPr id="37" name="Text 35"/>
          <p:cNvSpPr/>
          <p:nvPr/>
        </p:nvSpPr>
        <p:spPr>
          <a:xfrm>
            <a:off x="9308592" y="43434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5F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RQ4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308592" y="4663440"/>
            <a:ext cx="22494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lightweight compensation help?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02920" y="5623560"/>
            <a:ext cx="11183112" cy="91440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40" name="Text 38"/>
          <p:cNvSpPr/>
          <p:nvPr/>
        </p:nvSpPr>
        <p:spPr>
          <a:xfrm>
            <a:off x="777240" y="5724144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77240" y="596188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studies how bio-inspired torque control produces adaptive locomotion, and interprets it through adaptive and robust control perspectives.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Bio-inspired Adaptive Locomotion via Torque-based Learning</dc:title>
  <dc:subject>PptxGenJS Presentation</dc:subject>
  <dc:creator>SATA Progress Report</dc:creator>
  <cp:lastModifiedBy>SATA Progress Report</cp:lastModifiedBy>
  <cp:revision>1</cp:revision>
  <dcterms:created xsi:type="dcterms:W3CDTF">2026-05-24T07:43:39Z</dcterms:created>
  <dcterms:modified xsi:type="dcterms:W3CDTF">2026-05-24T07:43:39Z</dcterms:modified>
</cp:coreProperties>
</file>